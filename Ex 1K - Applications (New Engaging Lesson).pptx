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09728"/>
          </a:xfrm>
          <a:prstGeom prst="rect">
            <a:avLst/>
          </a:prstGeom>
          <a:solidFill>
            <a:srgbClr val="00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0" y="0"/>
            <a:ext cx="2587752" cy="6858000"/>
          </a:xfrm>
          <a:prstGeom prst="rect">
            <a:avLst/>
          </a:prstGeom>
          <a:solidFill>
            <a:srgbClr val="1E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84080" y="731520"/>
            <a:ext cx="2011680" cy="73152"/>
          </a:xfrm>
          <a:prstGeom prst="rect">
            <a:avLst/>
          </a:prstGeom>
          <a:solidFill>
            <a:srgbClr val="FFC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84080" y="5852160"/>
            <a:ext cx="2011680" cy="73152"/>
          </a:xfrm>
          <a:prstGeom prst="rect">
            <a:avLst/>
          </a:prstGeom>
          <a:solidFill>
            <a:srgbClr val="FFC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457200"/>
            <a:ext cx="2926080" cy="411480"/>
          </a:xfrm>
          <a:prstGeom prst="rect">
            <a:avLst/>
          </a:prstGeom>
          <a:solidFill>
            <a:srgbClr val="00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484632"/>
            <a:ext cx="28346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YEAR 10 MATHEMATICS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09728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0" i="0">
                <a:solidFill>
                  <a:srgbClr val="FFFFFF"/>
                </a:solidFill>
              </a:rPr>
              <a:t>Applications 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2880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C02E"/>
                </a:solidFill>
              </a:rPr>
              <a:t>Simultaneous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9748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0" i="0">
                <a:solidFill>
                  <a:srgbClr val="FFFFFF"/>
                </a:solidFill>
              </a:rPr>
              <a:t>Linear Equations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490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2F2F2"/>
                </a:solidFill>
              </a:rPr>
              <a:t>Ex 1K  |  55-Minute Lesson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434840"/>
            <a:ext cx="1417320" cy="384048"/>
          </a:xfrm>
          <a:prstGeom prst="rect">
            <a:avLst/>
          </a:prstGeom>
          <a:solidFill>
            <a:srgbClr val="006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4462272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📘 APPLY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4434840"/>
            <a:ext cx="1417320" cy="384048"/>
          </a:xfrm>
          <a:prstGeom prst="rect">
            <a:avLst/>
          </a:prstGeom>
          <a:solidFill>
            <a:srgbClr val="006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57400" y="4462272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📊 SOLVE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4434840"/>
            <a:ext cx="1417320" cy="384048"/>
          </a:xfrm>
          <a:prstGeom prst="rect">
            <a:avLst/>
          </a:prstGeom>
          <a:solidFill>
            <a:srgbClr val="006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3320" y="4462272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🌍 CONNECT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Today's Lesson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132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979C"/>
                </a:solidFill>
              </a:rPr>
              <a:t>55 minutes — where we're headed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1691640" cy="2926080"/>
          </a:xfrm>
          <a:prstGeom prst="rect">
            <a:avLst/>
          </a:prstGeom>
          <a:solidFill>
            <a:srgbClr val="00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1691640" cy="502920"/>
          </a:xfrm>
          <a:prstGeom prst="rect">
            <a:avLst/>
          </a:prstGeom>
          <a:solidFill>
            <a:srgbClr val="0079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59" y="143560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⚡ WARM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59" y="1947672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02E"/>
                </a:solidFill>
              </a:rPr>
              <a:t>0–5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331720"/>
            <a:ext cx="1554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Quick puzzle to activate prior knowledge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40280" y="1417320"/>
            <a:ext cx="1691640" cy="2926080"/>
          </a:xfrm>
          <a:prstGeom prst="rect">
            <a:avLst/>
          </a:prstGeom>
          <a:solidFill>
            <a:srgbClr val="6A3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40280" y="1417320"/>
            <a:ext cx="1691640" cy="502920"/>
          </a:xfrm>
          <a:prstGeom prst="rect">
            <a:avLst/>
          </a:prstGeom>
          <a:solidFill>
            <a:srgbClr val="4C1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143560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🎯 INTENTIONS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1947672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02E"/>
                </a:solidFill>
              </a:rPr>
              <a:t>5–10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13432" y="2331720"/>
            <a:ext cx="1554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What we'll learn and why it matters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1417320"/>
            <a:ext cx="1691640" cy="292608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1417320"/>
            <a:ext cx="1691640" cy="502920"/>
          </a:xfrm>
          <a:prstGeom prst="rect">
            <a:avLst/>
          </a:prstGeom>
          <a:solidFill>
            <a:srgbClr val="000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143560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📖 LEARN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1947672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02E"/>
                </a:solidFill>
              </a:rPr>
              <a:t>10–25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33672" y="2331720"/>
            <a:ext cx="1554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Key steps + two worked examples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1417320"/>
            <a:ext cx="1691640" cy="292608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80760" y="1417320"/>
            <a:ext cx="1691640" cy="502920"/>
          </a:xfrm>
          <a:prstGeom prst="rect">
            <a:avLst/>
          </a:prstGeom>
          <a:solidFill>
            <a:srgbClr val="106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143560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🏋 PRACTICE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1947672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02E"/>
                </a:solidFill>
              </a:rPr>
              <a:t>25–45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53912" y="2331720"/>
            <a:ext cx="1554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Graduated exercises with scaffolding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1000" y="1417320"/>
            <a:ext cx="1691640" cy="2926080"/>
          </a:xfrm>
          <a:prstGeom prst="rect">
            <a:avLst/>
          </a:prstGeom>
          <a:solidFill>
            <a:srgbClr val="E85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01000" y="1417320"/>
            <a:ext cx="1691640" cy="502920"/>
          </a:xfrm>
          <a:prstGeom prst="rect">
            <a:avLst/>
          </a:prstGeom>
          <a:solidFill>
            <a:srgbClr val="CA3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143560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🎮 CHALLENGE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1947672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02E"/>
                </a:solidFill>
              </a:rPr>
              <a:t>45–52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74152" y="2331720"/>
            <a:ext cx="1554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Real-world problem-solving race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21240" y="1417320"/>
            <a:ext cx="1691640" cy="2926080"/>
          </a:xfrm>
          <a:prstGeom prst="rect">
            <a:avLst/>
          </a:prstGeom>
          <a:solidFill>
            <a:srgbClr val="8B0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21240" y="1417320"/>
            <a:ext cx="1691640" cy="502920"/>
          </a:xfrm>
          <a:prstGeom prst="rect">
            <a:avLst/>
          </a:prstGeom>
          <a:solidFill>
            <a:srgbClr val="6D0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66960" y="143560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🪞 REFLECT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1947672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02E"/>
                </a:solidFill>
              </a:rPr>
              <a:t>52–55 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94392" y="2331720"/>
            <a:ext cx="1554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Exit ticket + learning check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943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35C"/>
                </a:solidFill>
              </a:rPr>
              <a:t>💡 Interactive website open throughout — earn points as you go!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⚡ Warm-Up  |  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132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979C"/>
                </a:solidFill>
              </a:rPr>
              <a:t>Decode the mystery amounts!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73152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7315200" cy="64008"/>
          </a:xfrm>
          <a:prstGeom prst="rect">
            <a:avLst/>
          </a:prstGeom>
          <a:solidFill>
            <a:srgbClr val="FFC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6949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235C"/>
                </a:solidFill>
              </a:rPr>
              <a:t>🧩  The Snack Bar Problem</a:t>
            </a:r>
          </a:p>
          <a:p>
            <a:pPr algn="l">
              <a:spcBef>
                <a:spcPts val="1000"/>
              </a:spcBef>
            </a:pPr>
            <a:r>
              <a:rPr sz="1500" b="0" i="1">
                <a:solidFill>
                  <a:srgbClr val="444444"/>
                </a:solidFill>
              </a:rPr>
              <a:t>At the school canteen:</a:t>
            </a:r>
          </a:p>
          <a:p>
            <a:pPr algn="l">
              <a:spcBef>
                <a:spcPts val="600"/>
              </a:spcBef>
            </a:pPr>
            <a:r>
              <a:rPr sz="1700" b="0" i="0">
                <a:solidFill>
                  <a:srgbClr val="444444"/>
                </a:solidFill>
              </a:rPr>
              <a:t>   • 2 pies + 3 drinks cost $13.00</a:t>
            </a:r>
          </a:p>
          <a:p>
            <a:pPr algn="l">
              <a:spcBef>
                <a:spcPts val="600"/>
              </a:spcBef>
            </a:pPr>
            <a:r>
              <a:rPr sz="1700" b="0" i="0">
                <a:solidFill>
                  <a:srgbClr val="444444"/>
                </a:solidFill>
              </a:rPr>
              <a:t>   • 4 pies + 1 drink cost $15.00</a:t>
            </a:r>
          </a:p>
          <a:p>
            <a:pPr algn="l">
              <a:spcBef>
                <a:spcPts val="600"/>
              </a:spcBef>
            </a:pPr>
            <a:r>
              <a:rPr sz="1000" b="0" i="0">
                <a:solidFill>
                  <a:srgbClr val="444444"/>
                </a:solidFill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600" b="1" i="0">
                <a:solidFill>
                  <a:srgbClr val="1A235C"/>
                </a:solidFill>
              </a:rPr>
              <a:t>Can you figure out the price of one pie and one drink?</a:t>
            </a:r>
          </a:p>
          <a:p>
            <a:pPr algn="l">
              <a:spcBef>
                <a:spcPts val="600"/>
              </a:spcBef>
            </a:pPr>
            <a:r>
              <a:rPr sz="800" b="0" i="0">
                <a:solidFill>
                  <a:srgbClr val="444444"/>
                </a:solidFill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400" b="0" i="1">
                <a:solidFill>
                  <a:srgbClr val="00979C"/>
                </a:solidFill>
              </a:rPr>
              <a:t>💬 Discuss with your neighbour for 2 minutes, then share!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1371600"/>
            <a:ext cx="4023360" cy="2011680"/>
          </a:xfrm>
          <a:prstGeom prst="rect">
            <a:avLst/>
          </a:prstGeom>
          <a:solidFill>
            <a:srgbClr val="00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4173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💡 Hint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1828800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Let p = price of a pie
Let d = price of a drink
Write TWO equations
and solve!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3566160"/>
            <a:ext cx="4023360" cy="219456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361188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02E"/>
                </a:solidFill>
              </a:rPr>
              <a:t>✅ Answer (reveal after!)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4041648"/>
            <a:ext cx="3840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2p + 3d = 13  … (1)
4p +  d = 15  … (2)
Solving: p = $3.00,  d = $2.33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🎯 Learning Intentions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132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979C"/>
                </a:solidFill>
              </a:rPr>
              <a:t>By the end of this lesson you will be able to…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5448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554480"/>
            <a:ext cx="5577840" cy="73152"/>
          </a:xfrm>
          <a:prstGeom prst="rect">
            <a:avLst/>
          </a:prstGeom>
          <a:solidFill>
            <a:srgbClr val="00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79" y="1783080"/>
            <a:ext cx="502920" cy="50292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77393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16916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35C"/>
                </a:solidFill>
              </a:rPr>
              <a:t>Set up equations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12848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Translate a real-world worded problem into a pair of linear equations by carefully defining variables.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55448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554480"/>
            <a:ext cx="5577840" cy="73152"/>
          </a:xfrm>
          <a:prstGeom prst="rect">
            <a:avLst/>
          </a:prstGeom>
          <a:solidFill>
            <a:srgbClr val="FFC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79" y="1783080"/>
            <a:ext cx="502920" cy="50292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79" y="177393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6872" y="16916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35C"/>
                </a:solidFill>
              </a:rPr>
              <a:t>Choose your method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212848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Select the most efficient solving method (substitution or elimination) based on the structure of the equations.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84048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840480"/>
            <a:ext cx="5577840" cy="73152"/>
          </a:xfrm>
          <a:prstGeom prst="rect">
            <a:avLst/>
          </a:prstGeom>
          <a:solidFill>
            <a:srgbClr val="00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79" y="4069080"/>
            <a:ext cx="502920" cy="50292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405993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1" y="3977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35C"/>
                </a:solidFill>
              </a:rPr>
              <a:t>Solve &amp; interpret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498848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Solve simultaneously and communicate the answer back in the context of the original problem.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84048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3840480"/>
            <a:ext cx="5577840" cy="73152"/>
          </a:xfrm>
          <a:prstGeom prst="rect">
            <a:avLst/>
          </a:prstGeom>
          <a:solidFill>
            <a:srgbClr val="FFC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79" y="4069080"/>
            <a:ext cx="502920" cy="50292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79" y="405993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76872" y="3977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35C"/>
                </a:solidFill>
              </a:rPr>
              <a:t>Spot special cases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498848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Identify when two equations represent parallel lines (no solution) or the same line (infinite solutions).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📐 The 4-Step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132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979C"/>
                </a:solidFill>
              </a:rPr>
              <a:t>A reliable strategy for every worded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265176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2651760" cy="822960"/>
          </a:xfrm>
          <a:prstGeom prst="rect">
            <a:avLst/>
          </a:prstGeom>
          <a:solidFill>
            <a:srgbClr val="00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3560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9" name="Rectangle 8"/>
          <p:cNvSpPr/>
          <p:nvPr/>
        </p:nvSpPr>
        <p:spPr>
          <a:xfrm>
            <a:off x="2944368" y="3474720"/>
            <a:ext cx="228600" cy="164592"/>
          </a:xfrm>
          <a:prstGeom prst="rect">
            <a:avLst/>
          </a:prstGeom>
          <a:solidFill>
            <a:srgbClr val="00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53512" y="3429000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979C"/>
                </a:solidFill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286000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979C"/>
                </a:solidFill>
              </a:rPr>
              <a:t>Define Variables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816352"/>
            <a:ext cx="2423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Choose letters that make sense.
Write them down clearly.
E.g.  "Let a = number of adults"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417320"/>
            <a:ext cx="265176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1417320"/>
            <a:ext cx="2651760" cy="82296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143560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0448" y="3474720"/>
            <a:ext cx="228600" cy="16459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79592" y="3429000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8648"/>
                </a:solidFill>
              </a:rPr>
              <a:t>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286000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E8648"/>
                </a:solidFill>
              </a:rPr>
              <a:t>Form Equations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2816352"/>
            <a:ext cx="2423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Read carefully — each fact gives you ONE equation.
Check: you need exactly 2 equations
for 2 unknowns.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417320"/>
            <a:ext cx="265176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1417320"/>
            <a:ext cx="2651760" cy="822960"/>
          </a:xfrm>
          <a:prstGeom prst="rect">
            <a:avLst/>
          </a:prstGeom>
          <a:solidFill>
            <a:srgbClr val="E85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143560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96528" y="3474720"/>
            <a:ext cx="228600" cy="164592"/>
          </a:xfrm>
          <a:prstGeom prst="rect">
            <a:avLst/>
          </a:prstGeom>
          <a:solidFill>
            <a:srgbClr val="E85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05672" y="3429000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571A"/>
                </a:solidFill>
              </a:rPr>
              <a:t>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286000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8571A"/>
                </a:solidFill>
              </a:rPr>
              <a:t>Solve Simultaneously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816352"/>
            <a:ext cx="2423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Pick elimination or substitution.
Show ALL working — method marks matter!
Label each equation (1) and (2).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52560" y="1417320"/>
            <a:ext cx="265176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52560" y="1417320"/>
            <a:ext cx="2651760" cy="822960"/>
          </a:xfrm>
          <a:prstGeom prst="rect">
            <a:avLst/>
          </a:prstGeom>
          <a:solidFill>
            <a:srgbClr val="6A3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98280" y="143560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6A3D9A"/>
                </a:solidFill>
              </a:rPr>
              <a:t>Answer in Context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2816352"/>
            <a:ext cx="2423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Write a sentence using the original wording.
Include units (e.g. $, kg, hours).
Sanity-check: does the answer make sense?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6309360"/>
            <a:ext cx="11612880" cy="384048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32764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02E"/>
                </a:solidFill>
              </a:rPr>
              <a:t>💡 Pro tip: underline the key numbers and circle the unknowns as you read the question!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📖 Worked Example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132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979C"/>
                </a:solidFill>
              </a:rPr>
              <a:t>Setting up and solving — ticket sales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77724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7772400" cy="73152"/>
          </a:xfrm>
          <a:prstGeom prst="rect">
            <a:avLst/>
          </a:prstGeom>
          <a:solidFill>
            <a:srgbClr val="FFC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749807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A235C"/>
                </a:solidFill>
              </a:rPr>
              <a:t>🎟️  The School Concert</a:t>
            </a:r>
          </a:p>
          <a:p>
            <a:pPr algn="l">
              <a:spcBef>
                <a:spcPts val="800"/>
              </a:spcBef>
            </a:pPr>
            <a:r>
              <a:rPr sz="1500" b="0" i="0">
                <a:solidFill>
                  <a:srgbClr val="444444"/>
                </a:solidFill>
              </a:rPr>
              <a:t>Adult tickets cost $12 and student tickets cost $7. A total of 350 tickets were sold, raising $3150.</a:t>
            </a:r>
          </a:p>
          <a:p>
            <a:pPr algn="l">
              <a:spcBef>
                <a:spcPts val="600"/>
              </a:spcBef>
            </a:pPr>
            <a:r>
              <a:rPr sz="1600" b="1" i="0">
                <a:solidFill>
                  <a:srgbClr val="1A235C"/>
                </a:solidFill>
              </a:rPr>
              <a:t>How many adult tickets and how many student tickets were sold?</a:t>
            </a:r>
          </a:p>
        </p:txBody>
      </p:sp>
      <p:sp>
        <p:nvSpPr>
          <p:cNvPr id="9" name="Rectangle 8"/>
          <p:cNvSpPr/>
          <p:nvPr/>
        </p:nvSpPr>
        <p:spPr>
          <a:xfrm>
            <a:off x="8275320" y="1481328"/>
            <a:ext cx="1371600" cy="640080"/>
          </a:xfrm>
          <a:prstGeom prst="rect">
            <a:avLst/>
          </a:prstGeom>
          <a:solidFill>
            <a:srgbClr val="00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50876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1
Define Variables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1755648"/>
            <a:ext cx="201168" cy="54864"/>
          </a:xfrm>
          <a:prstGeom prst="rect">
            <a:avLst/>
          </a:prstGeom>
          <a:solidFill>
            <a:srgbClr val="00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75320" y="2331720"/>
            <a:ext cx="1371600" cy="64008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359151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2
Form Equations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2606039"/>
            <a:ext cx="201168" cy="54864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3520440"/>
            <a:ext cx="1371600" cy="640080"/>
          </a:xfrm>
          <a:prstGeom prst="rect">
            <a:avLst/>
          </a:prstGeom>
          <a:solidFill>
            <a:srgbClr val="E85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3547872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3
Solve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3794760"/>
            <a:ext cx="201168" cy="54864"/>
          </a:xfrm>
          <a:prstGeom prst="rect">
            <a:avLst/>
          </a:prstGeom>
          <a:solidFill>
            <a:srgbClr val="E85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20" y="5029200"/>
            <a:ext cx="1371600" cy="640080"/>
          </a:xfrm>
          <a:prstGeom prst="rect">
            <a:avLst/>
          </a:prstGeom>
          <a:solidFill>
            <a:srgbClr val="6A3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5056632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4
Answer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2440" y="5303520"/>
            <a:ext cx="201168" cy="54864"/>
          </a:xfrm>
          <a:prstGeom prst="rect">
            <a:avLst/>
          </a:prstGeom>
          <a:solidFill>
            <a:srgbClr val="6A3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114800"/>
            <a:ext cx="116128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114800"/>
            <a:ext cx="11612880" cy="64008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4169663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5C"/>
                </a:solidFill>
              </a:rPr>
              <a:t>✍️  Your turn — set it up!  (Try before we work through it together)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681728"/>
            <a:ext cx="1133856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5084064"/>
            <a:ext cx="1133856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5486400"/>
            <a:ext cx="1133856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5888736"/>
            <a:ext cx="1133856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📖 Worked Example 1 —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557784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5577840" cy="475488"/>
          </a:xfrm>
          <a:prstGeom prst="rect">
            <a:avLst/>
          </a:prstGeom>
          <a:solidFill>
            <a:srgbClr val="00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8132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STEP 1 — Define Variables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984248"/>
            <a:ext cx="5303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Let  a  =  number of adult tickets sold
Let  s  =  number of student tickets sold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17320"/>
            <a:ext cx="557784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5577840" cy="475488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79" y="148132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STEP 2 — Form Equations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84248"/>
            <a:ext cx="5303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Total tickets:    a  +  s  =  350   … (1)
Total revenue:  12a  +  7s  =  3150  … (2)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703320"/>
            <a:ext cx="557784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703320"/>
            <a:ext cx="5577840" cy="475488"/>
          </a:xfrm>
          <a:prstGeom prst="rect">
            <a:avLst/>
          </a:prstGeom>
          <a:solidFill>
            <a:srgbClr val="E85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76732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STEP 3 — Solve (Elimination)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4270248"/>
            <a:ext cx="5303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Multiply (1) by 7:    7a + 7s = 2450    … (3)
Subtract (3) from (2):   5a = 700
∴  a = 140
Substitute into (1):  140 + s = 350  →  s = 210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703320"/>
            <a:ext cx="557784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703320"/>
            <a:ext cx="5577840" cy="475488"/>
          </a:xfrm>
          <a:prstGeom prst="rect">
            <a:avLst/>
          </a:prstGeom>
          <a:solidFill>
            <a:srgbClr val="6A3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79" y="376732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STEP 4 — Answer in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270248"/>
            <a:ext cx="5303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140 adult tickets and 210 student tickets were sold.
✅ Check: 140 + 210 = 350 ✓   and   12(140) + 7(210) = 1680 + 1470 = 3150 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📖 Worked Example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132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979C"/>
                </a:solidFill>
              </a:rPr>
              <a:t>A more complex application — break-even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116128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11612880" cy="73152"/>
          </a:xfrm>
          <a:prstGeom prst="rect">
            <a:avLst/>
          </a:prstGeom>
          <a:solidFill>
            <a:srgbClr val="00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11247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A235C"/>
                </a:solidFill>
              </a:rPr>
              <a:t>🏭  The Cupcake Business</a:t>
            </a:r>
          </a:p>
          <a:p>
            <a:pPr algn="l">
              <a:spcBef>
                <a:spcPts val="800"/>
              </a:spcBef>
            </a:pPr>
            <a:r>
              <a:rPr sz="1500" b="0" i="0">
                <a:solidFill>
                  <a:srgbClr val="444444"/>
                </a:solidFill>
              </a:rPr>
              <a:t>Emma starts a cupcake business. She spends $240 on equipment (fixed cost) and $1.50 to make each cupcake. She sells each cupcake for $4.50.</a:t>
            </a:r>
          </a:p>
          <a:p>
            <a:pPr algn="l">
              <a:spcBef>
                <a:spcPts val="600"/>
              </a:spcBef>
            </a:pPr>
            <a:r>
              <a:rPr sz="1500" b="1" i="0">
                <a:solidFill>
                  <a:srgbClr val="1A235C"/>
                </a:solidFill>
              </a:rPr>
              <a:t>(a)  Write equations for Emma's total Cost (C) and total Revenue (R) in terms of n, the number of cupcakes.</a:t>
            </a:r>
          </a:p>
          <a:p>
            <a:pPr algn="l">
              <a:spcBef>
                <a:spcPts val="400"/>
              </a:spcBef>
            </a:pPr>
            <a:r>
              <a:rPr sz="1500" b="1" i="0">
                <a:solidFill>
                  <a:srgbClr val="1A235C"/>
                </a:solidFill>
              </a:rPr>
              <a:t>(b)  Find the break-even point — how many cupcakes must she sell?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977639"/>
            <a:ext cx="557784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977639"/>
            <a:ext cx="5577840" cy="438912"/>
          </a:xfrm>
          <a:prstGeom prst="rect">
            <a:avLst/>
          </a:prstGeom>
          <a:solidFill>
            <a:srgbClr val="00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995928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Cost Equation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79" y="4526280"/>
            <a:ext cx="530352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79" y="4983480"/>
            <a:ext cx="530352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79" y="5440680"/>
            <a:ext cx="530352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79" y="5897880"/>
            <a:ext cx="530352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0760" y="3977639"/>
            <a:ext cx="557784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3977639"/>
            <a:ext cx="5577840" cy="43891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3995928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Revenue Equation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526280"/>
            <a:ext cx="530352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4983480"/>
            <a:ext cx="530352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5440680"/>
            <a:ext cx="530352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5897880"/>
            <a:ext cx="530352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📖 Worked Example 2 —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132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979C"/>
                </a:solidFill>
              </a:rPr>
              <a:t>Break-even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5394960" cy="475488"/>
          </a:xfrm>
          <a:prstGeom prst="rect">
            <a:avLst/>
          </a:prstGeom>
          <a:solidFill>
            <a:srgbClr val="00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5389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(a)  Equations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93392"/>
            <a:ext cx="52120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Cost:     C  =  1.5n  +  240
Revenue:  R  =  4.5n
(n = number of cupcakes sold)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417320"/>
            <a:ext cx="58978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417320"/>
            <a:ext cx="5897880" cy="475488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1453896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(b)  Break-even: set C = 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1993392"/>
            <a:ext cx="5669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1.5n + 240  =  4.5n
240  =  3n
n  =  80 cupcakes
∴ Emma must sell 80 cupcakes to break even.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840480"/>
            <a:ext cx="11612880" cy="274320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8862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C02E"/>
                </a:solidFill>
              </a:rPr>
              <a:t>📊 What does this look like graphically?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07408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• The Cost line starts at (0, 240) — fixed cost — and rises with gradient 1.5
• The Revenue line passes through the origin with gradient 4.5
• They intersect at the point (80, 360) — the break-even point
• For n &lt; 80: Cost &gt; Revenue → LOSS       For n &gt; 80: Revenue &gt; Cost → PROFIT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🏋 Practice Time  |  20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132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979C"/>
                </a:solidFill>
              </a:rPr>
              <a:t>Graduated exercises — choose your level!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36576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3657600" cy="100584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0876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🌱 FOUNDATION
(Q1–5)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578608"/>
            <a:ext cx="33832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Highly scaffolded problems with equation frames provided. Focus on setting up equations correctly and practising elimination.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463040"/>
            <a:ext cx="36576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463040"/>
            <a:ext cx="3657600" cy="1005840"/>
          </a:xfrm>
          <a:prstGeom prst="rect">
            <a:avLst/>
          </a:prstGeom>
          <a:solidFill>
            <a:srgbClr val="00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79" y="150876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📘 STANDARD
(Q4–9)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578608"/>
            <a:ext cx="33832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Mixed worded problems across different contexts. Choose your own method. Full working required.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463040"/>
            <a:ext cx="36576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463040"/>
            <a:ext cx="3657600" cy="1005840"/>
          </a:xfrm>
          <a:prstGeom prst="rect">
            <a:avLst/>
          </a:prstGeom>
          <a:solidFill>
            <a:srgbClr val="E85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50876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🔥 ADVANCED
(Q8–14)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578608"/>
            <a:ext cx="33832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Multi-step problems, break-even scenarios, and proof questions. Extend to parallel/perpendicular line analysis.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669280"/>
            <a:ext cx="11612880" cy="100584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74243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📝 Show ALL working    |    ✅ Write final answers as sentences    |    🤝 Ask your neighbour before asking me    |    🎮 Log answers on the website to earn XP!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⚠️ Special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132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979C"/>
                </a:solidFill>
              </a:rPr>
              <a:t>When things don't work out as expected…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36576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3657600" cy="731520"/>
          </a:xfrm>
          <a:prstGeom prst="rect">
            <a:avLst/>
          </a:prstGeom>
          <a:solidFill>
            <a:srgbClr val="00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356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NORMAL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3736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979C"/>
                </a:solidFill>
              </a:rPr>
              <a:t>✅ ONE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240280"/>
            <a:ext cx="3429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Lines intersect at exactly one point.
Gradients are DIFFERENT.
e.g.  y = 2x + 1
       y = x + 4
Solve to find the unique (x, y).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417320"/>
            <a:ext cx="36576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417320"/>
            <a:ext cx="3657600" cy="731520"/>
          </a:xfrm>
          <a:prstGeom prst="rect">
            <a:avLst/>
          </a:prstGeom>
          <a:solidFill>
            <a:srgbClr val="E85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79" y="14356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PARALLEL LINES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79" y="173736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571A"/>
                </a:solidFill>
              </a:rPr>
              <a:t>🚫 NO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240280"/>
            <a:ext cx="3429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Lines are PARALLEL — they never meet.
Same gradient, different y-intercept.
e.g.  y = 3x + 2
       y = 3x − 5
Elimination gives: 0 = 7  (impossible!)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417320"/>
            <a:ext cx="36576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417320"/>
            <a:ext cx="3657600" cy="731520"/>
          </a:xfrm>
          <a:prstGeom prst="rect">
            <a:avLst/>
          </a:prstGeom>
          <a:solidFill>
            <a:srgbClr val="6A3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4356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SAME 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73736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A3D9A"/>
                </a:solidFill>
              </a:rPr>
              <a:t>∞  INFINITE Solutions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240280"/>
            <a:ext cx="3429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Lines are IDENTICAL — they sit on top of each other.
Same gradient AND same y-intercept.
e.g.  2y = 4x + 6
       y = 2x + 3
Elimination gives: 0 = 0  (always true!)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🌍 Where Is This Used in the Real World?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132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979C"/>
                </a:solidFill>
              </a:rPr>
              <a:t>Simultaneous equations are everywhere!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356616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3566160" cy="64008"/>
          </a:xfrm>
          <a:prstGeom prst="rect">
            <a:avLst/>
          </a:prstGeom>
          <a:solidFill>
            <a:srgbClr val="00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1848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A235C"/>
                </a:solidFill>
              </a:rPr>
              <a:t>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673351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235C"/>
                </a:solidFill>
              </a:rPr>
              <a:t>Economics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67128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Finding equilibrium where supply meets demand.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508760"/>
            <a:ext cx="356616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508760"/>
            <a:ext cx="3566160" cy="64008"/>
          </a:xfrm>
          <a:prstGeom prst="rect">
            <a:avLst/>
          </a:prstGeom>
          <a:solidFill>
            <a:srgbClr val="00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61848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A235C"/>
                </a:solidFill>
              </a:rPr>
              <a:t>🏗️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1673351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235C"/>
                </a:solidFill>
              </a:rPr>
              <a:t>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167128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Balancing forces in structures and circuits.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508760"/>
            <a:ext cx="356616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508760"/>
            <a:ext cx="3566160" cy="64008"/>
          </a:xfrm>
          <a:prstGeom prst="rect">
            <a:avLst/>
          </a:prstGeom>
          <a:solidFill>
            <a:srgbClr val="00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61848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A235C"/>
                </a:solidFill>
              </a:rPr>
              <a:t>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1673351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235C"/>
                </a:solidFill>
              </a:rPr>
              <a:t>Chemistry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167128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Mixing solutions to hit a target concentration.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657600"/>
            <a:ext cx="356616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657600"/>
            <a:ext cx="3566160" cy="64008"/>
          </a:xfrm>
          <a:prstGeom prst="rect">
            <a:avLst/>
          </a:prstGeom>
          <a:solidFill>
            <a:srgbClr val="FFC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76732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A235C"/>
                </a:solidFill>
              </a:rPr>
              <a:t>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822191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235C"/>
                </a:solidFill>
              </a:rPr>
              <a:t>Business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315968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Break-even analysis and profit optimisation.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60" y="3657600"/>
            <a:ext cx="356616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51960" y="3657600"/>
            <a:ext cx="3566160" cy="64008"/>
          </a:xfrm>
          <a:prstGeom prst="rect">
            <a:avLst/>
          </a:prstGeom>
          <a:solidFill>
            <a:srgbClr val="FFC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400" y="376732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A235C"/>
                </a:solidFill>
              </a:rPr>
              <a:t>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3822191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235C"/>
                </a:solidFill>
              </a:rPr>
              <a:t>Medicine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4315968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Calculating drug dosages across compartments.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3657600"/>
            <a:ext cx="356616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60" y="3657600"/>
            <a:ext cx="3566160" cy="64008"/>
          </a:xfrm>
          <a:prstGeom prst="rect">
            <a:avLst/>
          </a:prstGeom>
          <a:solidFill>
            <a:srgbClr val="FFC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376732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A235C"/>
                </a:solidFill>
              </a:rPr>
              <a:t>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3822191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235C"/>
                </a:solidFill>
              </a:rPr>
              <a:t>Game Design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4315968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Balancing character stats and resource systems.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C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C02E"/>
                </a:solidFill>
              </a:rPr>
              <a:t>🎮  CHALLENGE 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2F2F2"/>
                </a:solidFill>
              </a:rPr>
              <a:t>7 minutes  —  solve as many as you can  —  earn XP on the website!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3566160" cy="4754880"/>
          </a:xfrm>
          <a:prstGeom prst="rect">
            <a:avLst/>
          </a:prstGeom>
          <a:solidFill>
            <a:srgbClr val="1E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645920"/>
            <a:ext cx="3566160" cy="64008"/>
          </a:xfrm>
          <a:prstGeom prst="rect">
            <a:avLst/>
          </a:prstGeom>
          <a:solidFill>
            <a:srgbClr val="00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1907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02E"/>
                </a:solidFill>
              </a:rPr>
              <a:t>⭐ 10 XP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2140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QUICK FIRE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633472"/>
            <a:ext cx="3291840" cy="27432"/>
          </a:xfrm>
          <a:prstGeom prst="rect">
            <a:avLst/>
          </a:prstGeom>
          <a:solidFill>
            <a:srgbClr val="00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743200"/>
            <a:ext cx="3337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2F2F2"/>
                </a:solidFill>
              </a:rPr>
              <a:t>The sum of two numbers is 56.
Their difference is 14.
Find both numbers.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645920"/>
            <a:ext cx="3566160" cy="4754880"/>
          </a:xfrm>
          <a:prstGeom prst="rect">
            <a:avLst/>
          </a:prstGeom>
          <a:solidFill>
            <a:srgbClr val="1E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1645920"/>
            <a:ext cx="3566160" cy="64008"/>
          </a:xfrm>
          <a:prstGeom prst="rect">
            <a:avLst/>
          </a:prstGeom>
          <a:solidFill>
            <a:srgbClr val="00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71907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02E"/>
                </a:solidFill>
              </a:rPr>
              <a:t>⭐⭐ 20 XP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12140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REAL WORLD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2633472"/>
            <a:ext cx="3291840" cy="27432"/>
          </a:xfrm>
          <a:prstGeom prst="rect">
            <a:avLst/>
          </a:prstGeom>
          <a:solidFill>
            <a:srgbClr val="00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743200"/>
            <a:ext cx="3337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2F2F2"/>
                </a:solidFill>
              </a:rPr>
              <a:t>A phone plan charges $25/month + $0.10/text.
Another charges $15/month + $0.25/text.
For how many texts are they equal?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645920"/>
            <a:ext cx="3566160" cy="4754880"/>
          </a:xfrm>
          <a:prstGeom prst="rect">
            <a:avLst/>
          </a:prstGeom>
          <a:solidFill>
            <a:srgbClr val="1E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645920"/>
            <a:ext cx="3566160" cy="64008"/>
          </a:xfrm>
          <a:prstGeom prst="rect">
            <a:avLst/>
          </a:prstGeom>
          <a:solidFill>
            <a:srgbClr val="00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71907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02E"/>
                </a:solidFill>
              </a:rPr>
              <a:t>⭐⭐⭐ 30 XP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12140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BOSS LEVEL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20" y="2633472"/>
            <a:ext cx="3291840" cy="27432"/>
          </a:xfrm>
          <a:prstGeom prst="rect">
            <a:avLst/>
          </a:prstGeom>
          <a:solidFill>
            <a:srgbClr val="00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2743200"/>
            <a:ext cx="3337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2F2F2"/>
                </a:solidFill>
              </a:rPr>
              <a:t>Two cars leave cities 480 km apart at the same time.
Car A travels at 90 km/h, Car B at 70 km/h.
When and where do they meet?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02E"/>
                </a:solidFill>
              </a:rPr>
              <a:t>🏆 Top 3 scorers on the leaderboard win a bonus prize!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🪞 Reflect &amp; Exit Ticket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132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979C"/>
                </a:solidFill>
              </a:rPr>
              <a:t>3 minutes — show what you know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411480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4114800" cy="64008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0876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235C"/>
                </a:solidFill>
              </a:rPr>
              <a:t>Self-Assessment
Traffic Light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86000"/>
            <a:ext cx="3840480" cy="12344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286000"/>
            <a:ext cx="164592" cy="123444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377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4444"/>
                </a:solidFill>
              </a:rPr>
              <a:t>🟢 Green  — Got it!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6148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I can set up AND solve worded simultaneous equation problems independently.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03320"/>
            <a:ext cx="3840480" cy="12344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703320"/>
            <a:ext cx="164592" cy="1234440"/>
          </a:xfrm>
          <a:prstGeom prst="rect">
            <a:avLst/>
          </a:prstGeom>
          <a:solidFill>
            <a:srgbClr val="FFC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79475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4444"/>
                </a:solidFill>
              </a:rPr>
              <a:t>🟡 Yellow — Nearly!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17880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I can set up the equations but need more practice with the solving methods.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120640"/>
            <a:ext cx="3840480" cy="12344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5120640"/>
            <a:ext cx="164592" cy="1234440"/>
          </a:xfrm>
          <a:prstGeom prst="rect">
            <a:avLst/>
          </a:prstGeom>
          <a:solidFill>
            <a:srgbClr val="D0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21207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4444"/>
                </a:solidFill>
              </a:rPr>
              <a:t>🔴 Red — Need help!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596127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I'm still unsure about how to start worded problems — more practice needed.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17720" y="1417320"/>
            <a:ext cx="731520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17720" y="1417320"/>
            <a:ext cx="7315200" cy="64008"/>
          </a:xfrm>
          <a:prstGeom prst="rect">
            <a:avLst/>
          </a:prstGeom>
          <a:solidFill>
            <a:srgbClr val="FFC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1499616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35C"/>
                </a:solidFill>
              </a:rPr>
              <a:t>📝 Exit Ticket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2029968"/>
            <a:ext cx="7132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On your mini whiteboard (or worksheet):
A jar contains 20-cent and 50-cent coins.
There are 30 coins worth $12.00 in total.
Find the number of each type of coin.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9160" y="4160520"/>
            <a:ext cx="704088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09160" y="4562856"/>
            <a:ext cx="704088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09160" y="4965192"/>
            <a:ext cx="704088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09160" y="5367528"/>
            <a:ext cx="704088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09160" y="5769864"/>
            <a:ext cx="704088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17720" y="5943600"/>
            <a:ext cx="7315200" cy="50292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09160" y="5980176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02E"/>
                </a:solidFill>
              </a:rPr>
              <a:t>📚 Homework: Exercise 1K — see working programs on the class portal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